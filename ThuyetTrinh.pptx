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5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59" r:id="rId23"/>
    <p:sldId id="26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0ADC3-8E81-47C7-BFC4-0E805C3101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3A7DB-BCA2-4075-8807-871876F7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6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#_Toc226419238"/><Relationship Id="rId13" Type="http://schemas.openxmlformats.org/officeDocument/2006/relationships/hyperlink" Target="#_Toc226419246"/><Relationship Id="rId18" Type="http://schemas.openxmlformats.org/officeDocument/2006/relationships/hyperlink" Target="#_Toc226419252"/><Relationship Id="rId26" Type="http://schemas.openxmlformats.org/officeDocument/2006/relationships/hyperlink" Target="#_Toc226419260"/><Relationship Id="rId3" Type="http://schemas.openxmlformats.org/officeDocument/2006/relationships/hyperlink" Target="#_Toc226419232"/><Relationship Id="rId21" Type="http://schemas.openxmlformats.org/officeDocument/2006/relationships/hyperlink" Target="#_Toc226419255"/><Relationship Id="rId7" Type="http://schemas.openxmlformats.org/officeDocument/2006/relationships/hyperlink" Target="#_Toc226419236"/><Relationship Id="rId12" Type="http://schemas.openxmlformats.org/officeDocument/2006/relationships/hyperlink" Target="#_Toc226419245"/><Relationship Id="rId17" Type="http://schemas.openxmlformats.org/officeDocument/2006/relationships/hyperlink" Target="#_Toc226419251"/><Relationship Id="rId25" Type="http://schemas.openxmlformats.org/officeDocument/2006/relationships/hyperlink" Target="#_Toc226419259"/><Relationship Id="rId2" Type="http://schemas.openxmlformats.org/officeDocument/2006/relationships/hyperlink" Target="#_Toc226419230"/><Relationship Id="rId16" Type="http://schemas.openxmlformats.org/officeDocument/2006/relationships/hyperlink" Target="#_Toc226419250"/><Relationship Id="rId20" Type="http://schemas.openxmlformats.org/officeDocument/2006/relationships/hyperlink" Target="#_Toc226419254"/><Relationship Id="rId1" Type="http://schemas.openxmlformats.org/officeDocument/2006/relationships/slideLayout" Target="../slideLayouts/slideLayout2.xml"/><Relationship Id="rId6" Type="http://schemas.openxmlformats.org/officeDocument/2006/relationships/hyperlink" Target="#_Toc226419235"/><Relationship Id="rId11" Type="http://schemas.openxmlformats.org/officeDocument/2006/relationships/hyperlink" Target="#_Toc226419244"/><Relationship Id="rId24" Type="http://schemas.openxmlformats.org/officeDocument/2006/relationships/hyperlink" Target="#_Toc226419258"/><Relationship Id="rId5" Type="http://schemas.openxmlformats.org/officeDocument/2006/relationships/hyperlink" Target="#_Toc226419234"/><Relationship Id="rId15" Type="http://schemas.openxmlformats.org/officeDocument/2006/relationships/hyperlink" Target="#_Toc226419249"/><Relationship Id="rId23" Type="http://schemas.openxmlformats.org/officeDocument/2006/relationships/hyperlink" Target="#_Toc226419257"/><Relationship Id="rId28" Type="http://schemas.openxmlformats.org/officeDocument/2006/relationships/hyperlink" Target="#_Toc226419262"/><Relationship Id="rId10" Type="http://schemas.openxmlformats.org/officeDocument/2006/relationships/hyperlink" Target="#_Toc226419243"/><Relationship Id="rId19" Type="http://schemas.openxmlformats.org/officeDocument/2006/relationships/hyperlink" Target="#_Toc226419253"/><Relationship Id="rId4" Type="http://schemas.openxmlformats.org/officeDocument/2006/relationships/hyperlink" Target="#_Toc226419233"/><Relationship Id="rId9" Type="http://schemas.openxmlformats.org/officeDocument/2006/relationships/hyperlink" Target="#_Toc226419241"/><Relationship Id="rId14" Type="http://schemas.openxmlformats.org/officeDocument/2006/relationships/hyperlink" Target="#_Toc226419247"/><Relationship Id="rId22" Type="http://schemas.openxmlformats.org/officeDocument/2006/relationships/hyperlink" Target="#_Toc226419256"/><Relationship Id="rId27" Type="http://schemas.openxmlformats.org/officeDocument/2006/relationships/hyperlink" Target="#_Toc226419261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nson.com.vn/lien-he/" TargetMode="External"/><Relationship Id="rId7" Type="http://schemas.openxmlformats.org/officeDocument/2006/relationships/hyperlink" Target="http://gsgd.co.uk/sandbox/jquery/easing" TargetMode="External"/><Relationship Id="rId2" Type="http://schemas.openxmlformats.org/officeDocument/2006/relationships/hyperlink" Target="https://anson.com.vn/abou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.com/" TargetMode="External"/><Relationship Id="rId5" Type="http://schemas.openxmlformats.org/officeDocument/2006/relationships/hyperlink" Target="https://www.thegioididong.com/" TargetMode="External"/><Relationship Id="rId4" Type="http://schemas.openxmlformats.org/officeDocument/2006/relationships/hyperlink" Target="https://vn.store.tp-link.com/blogs/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8410" y="1121757"/>
            <a:ext cx="7772400" cy="1470025"/>
          </a:xfrm>
        </p:spPr>
        <p:txBody>
          <a:bodyPr>
            <a:noAutofit/>
          </a:bodyPr>
          <a:lstStyle/>
          <a:p>
            <a:r>
              <a:rPr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sz="6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NetStore</a:t>
            </a:r>
            <a:endParaRPr sz="6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81984"/>
            <a:ext cx="6400800" cy="1956816"/>
          </a:xfrm>
        </p:spPr>
        <p:txBody>
          <a:bodyPr/>
          <a:lstStyle/>
          <a:p>
            <a:r>
              <a:rPr b="1" dirty="0" err="1">
                <a:solidFill>
                  <a:schemeClr val="tx1"/>
                </a:solidFill>
              </a:rPr>
              <a:t>Nhóm</a:t>
            </a:r>
            <a:r>
              <a:rPr b="1" dirty="0">
                <a:solidFill>
                  <a:schemeClr val="tx1"/>
                </a:solidFill>
              </a:rPr>
              <a:t>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5E32A-1ABB-4DA4-B82B-1588ED162B70}"/>
              </a:ext>
            </a:extLst>
          </p:cNvPr>
          <p:cNvSpPr txBox="1"/>
          <p:nvPr/>
        </p:nvSpPr>
        <p:spPr>
          <a:xfrm>
            <a:off x="1511808" y="3035587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Giảng</a:t>
            </a:r>
            <a:r>
              <a:rPr lang="en-US" sz="3200" b="1" dirty="0"/>
              <a:t> </a:t>
            </a:r>
            <a:r>
              <a:rPr lang="en-US" sz="3200" b="1" dirty="0" err="1"/>
              <a:t>viên</a:t>
            </a:r>
            <a:r>
              <a:rPr lang="en-US" sz="3200" b="1" dirty="0"/>
              <a:t>: </a:t>
            </a:r>
            <a:r>
              <a:rPr lang="en-US" sz="3200" b="1" dirty="0" err="1"/>
              <a:t>Phạm</a:t>
            </a:r>
            <a:r>
              <a:rPr lang="en-US" sz="3200" b="1" dirty="0"/>
              <a:t> Thanh </a:t>
            </a:r>
            <a:r>
              <a:rPr lang="en-US" sz="3200" b="1" dirty="0" err="1"/>
              <a:t>Tùng</a:t>
            </a:r>
            <a:endParaRPr 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/>
              <a:t>Giới</a:t>
            </a:r>
            <a:r>
              <a:rPr sz="6000" dirty="0"/>
              <a:t> </a:t>
            </a:r>
            <a:r>
              <a:rPr sz="6000" dirty="0" err="1"/>
              <a:t>thiệu</a:t>
            </a:r>
            <a:r>
              <a:rPr sz="6000" dirty="0"/>
              <a:t> </a:t>
            </a:r>
            <a:r>
              <a:rPr sz="6000" dirty="0" err="1"/>
              <a:t>đề</a:t>
            </a:r>
            <a:r>
              <a:rPr sz="6000" dirty="0"/>
              <a:t> </a:t>
            </a:r>
            <a:r>
              <a:rPr sz="6000" dirty="0" err="1"/>
              <a:t>tài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>
                <a:latin typeface="Times New Roman"/>
              </a:rPr>
              <a:t>Xây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dựng</a:t>
            </a:r>
            <a:r>
              <a:rPr dirty="0">
                <a:latin typeface="Times New Roman"/>
              </a:rPr>
              <a:t> website </a:t>
            </a:r>
            <a:r>
              <a:rPr dirty="0" err="1">
                <a:latin typeface="Times New Roman"/>
              </a:rPr>
              <a:t>bán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thiết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bị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mạng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trực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tuyến</a:t>
            </a:r>
            <a:endParaRPr dirty="0">
              <a:latin typeface="Times New Roman"/>
            </a:endParaRPr>
          </a:p>
          <a:p>
            <a:r>
              <a:rPr dirty="0" err="1">
                <a:latin typeface="Times New Roman"/>
              </a:rPr>
              <a:t>Ứng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dụng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kiến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thức</a:t>
            </a:r>
            <a:r>
              <a:rPr dirty="0">
                <a:latin typeface="Times New Roman"/>
              </a:rPr>
              <a:t> HTML, CSS, Bootstrap</a:t>
            </a:r>
          </a:p>
          <a:p>
            <a:r>
              <a:rPr dirty="0" err="1">
                <a:latin typeface="Times New Roman"/>
              </a:rPr>
              <a:t>Giao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diện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hiện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đại</a:t>
            </a:r>
            <a:r>
              <a:rPr dirty="0">
                <a:latin typeface="Times New Roman"/>
              </a:rPr>
              <a:t>, </a:t>
            </a:r>
            <a:r>
              <a:rPr dirty="0" err="1">
                <a:latin typeface="Times New Roman"/>
              </a:rPr>
              <a:t>dễ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sử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dụng</a:t>
            </a:r>
            <a:endParaRPr dirty="0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FB94617-9AEF-481A-A031-97F997109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56561" y="-93615"/>
            <a:ext cx="9502219" cy="750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03250" algn="l"/>
                <a:tab pos="65976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LỤC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CHƯƠNG 1: GIỚI THIỆU ĐỀ TÀI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Xác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định mục tiêu kinh doanh: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0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Cơ</a:t>
            </a:r>
            <a:r>
              <a:rPr kumimoji="0" lang="vi-VN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sở lý thuyết và các thông tin kỹ thuật: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Các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kiến thức lý thuyết vận dụng cho việc hiện thực website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Các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công nghệ chính được sử dụng HTML: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CSS Tutorial &amp; Advanced: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Boostrap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Lý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chọn áp dụng các công nghệ này HTML và CSS: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CHƯƠNG 2: PHÂN TÍCH ỨNG DỤNG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chủ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ea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sản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ea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phẩm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ea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khuyến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ea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mãi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ea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giỏ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ea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hàng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thanh toán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CHƯƠNG 3: XÂY DỰNG ỨNG DỤNG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3.1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Chủ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3.2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sản phẩm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3.3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khuyến mãi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3.4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tin 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tức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3.5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liên hệ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3.6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Trang giới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thiệu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CHƯƠNG 4: KẾT QUẢ ĐẠT ĐƯỢC, HẠN CHẾ VÀ PHÁT TRIỂN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4.1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Kết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quả đạt được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4.2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Hạn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chế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4.3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Hướng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phát triển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CHƯƠNG 5: TÀI LIỆU KHAM KHẢO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5.1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Giáo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trình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Microsoft Sans Serif" panose="020B0604020202020204" pitchFamily="34" charset="0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5.2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kumimoji="0" lang="vi-VN" altLang="en-US" sz="1600" b="1" i="0" u="none" strike="noStrike" cap="none" normalizeH="0" baseline="0" dirty="0">
                <a:ln>
                  <a:noFill/>
                </a:ln>
                <a:effectLst/>
                <a:ea typeface="Microsoft Sans Serif" panose="020B0604020202020204" pitchFamily="34" charset="0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3250" algn="l"/>
                <a:tab pos="6597650" algn="r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47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04544"/>
          </a:xfrm>
        </p:spPr>
        <p:txBody>
          <a:bodyPr>
            <a:normAutofit fontScale="90000"/>
          </a:bodyPr>
          <a:lstStyle/>
          <a:p>
            <a:r>
              <a:rPr lang="vi-VN" b="1" dirty="0"/>
              <a:t>CHƯƠNG 1: GIỚI THIỆU ĐỀ TÀI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8368"/>
            <a:ext cx="9144000" cy="6199632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r>
              <a:rPr lang="vi-VN" b="1" dirty="0"/>
              <a:t>Mục Đích:</a:t>
            </a:r>
            <a:endParaRPr lang="en-US" b="1" dirty="0"/>
          </a:p>
          <a:p>
            <a:r>
              <a:rPr lang="vi-VN" sz="3100" dirty="0"/>
              <a:t>Vận dụng các kiến thức đã học trong môn Hệ thống Công nghệ Web để xây dựng một nền tảng trực tuyến hoàn chỉnh cho cửa hàng NetStore</a:t>
            </a:r>
            <a:r>
              <a:rPr lang="vi-VN" dirty="0"/>
              <a:t>.</a:t>
            </a:r>
            <a:endParaRPr lang="en-US" sz="3600" b="1" dirty="0"/>
          </a:p>
          <a:p>
            <a:r>
              <a:rPr lang="vi-VN" b="1" dirty="0"/>
              <a:t>Xác định mục tiêu kinh doanh:</a:t>
            </a:r>
            <a:endParaRPr lang="en-US" b="1" dirty="0"/>
          </a:p>
          <a:p>
            <a:pPr lvl="0"/>
            <a:r>
              <a:rPr lang="en-US" b="1" dirty="0" err="1"/>
              <a:t>Quảng</a:t>
            </a:r>
            <a:r>
              <a:rPr lang="en-US" b="1" dirty="0"/>
              <a:t> </a:t>
            </a:r>
            <a:r>
              <a:rPr lang="en-US" b="1" dirty="0" err="1"/>
              <a:t>bá</a:t>
            </a:r>
            <a:r>
              <a:rPr lang="en-US" b="1" dirty="0"/>
              <a:t> </a:t>
            </a:r>
            <a:r>
              <a:rPr lang="en-US" b="1" dirty="0" err="1"/>
              <a:t>thương</a:t>
            </a:r>
            <a:r>
              <a:rPr lang="en-US" b="1" dirty="0"/>
              <a:t> </a:t>
            </a:r>
            <a:r>
              <a:rPr lang="en-US" b="1" dirty="0" err="1"/>
              <a:t>hiệu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NetStore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, tin </a:t>
            </a:r>
            <a:r>
              <a:rPr lang="en-US" dirty="0" err="1"/>
              <a:t>cậy</a:t>
            </a:r>
            <a:r>
              <a:rPr lang="en-US" dirty="0"/>
              <a:t>.</a:t>
            </a:r>
            <a:endParaRPr lang="en-US" sz="2800" dirty="0"/>
          </a:p>
          <a:p>
            <a:pPr lvl="0"/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</a:t>
            </a:r>
            <a:r>
              <a:rPr lang="en-US" b="1" dirty="0" err="1"/>
              <a:t>thị</a:t>
            </a:r>
            <a:r>
              <a:rPr lang="en-US" b="1" dirty="0"/>
              <a:t> </a:t>
            </a:r>
            <a:r>
              <a:rPr lang="en-US" b="1" dirty="0" err="1"/>
              <a:t>trường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website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24/7.</a:t>
            </a:r>
            <a:endParaRPr lang="en-US" sz="2800" dirty="0"/>
          </a:p>
          <a:p>
            <a:pPr lvl="0"/>
            <a:r>
              <a:rPr lang="en-US" b="1" dirty="0" err="1"/>
              <a:t>Tăng</a:t>
            </a:r>
            <a:r>
              <a:rPr lang="en-US" b="1" dirty="0"/>
              <a:t> </a:t>
            </a:r>
            <a:r>
              <a:rPr lang="en-US" b="1" dirty="0" err="1"/>
              <a:t>hiệu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bán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mãi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  <a:endParaRPr lang="en-US" sz="2800" dirty="0"/>
          </a:p>
          <a:p>
            <a:r>
              <a:rPr lang="en-US" dirty="0"/>
              <a:t>Website </a:t>
            </a:r>
            <a:r>
              <a:rPr lang="en-US" dirty="0" err="1"/>
              <a:t>NetStore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,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tông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,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 </a:t>
            </a:r>
            <a:r>
              <a:rPr lang="en-US" dirty="0" err="1"/>
              <a:t>nét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</a:t>
            </a:r>
            <a:endParaRPr lang="en-US" sz="2800" dirty="0"/>
          </a:p>
          <a:p>
            <a:pPr lvl="0"/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(Navigation)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.</a:t>
            </a:r>
            <a:endParaRPr lang="en-US" sz="2800" dirty="0"/>
          </a:p>
          <a:p>
            <a:pPr lvl="0"/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lưới</a:t>
            </a:r>
            <a:r>
              <a:rPr lang="en-US" dirty="0"/>
              <a:t> (Grid layout)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.</a:t>
            </a:r>
            <a:endParaRPr lang="en-US" sz="2800" dirty="0"/>
          </a:p>
          <a:p>
            <a:pPr lvl="0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tin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057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04544"/>
          </a:xfrm>
        </p:spPr>
        <p:txBody>
          <a:bodyPr>
            <a:normAutofit fontScale="90000"/>
          </a:bodyPr>
          <a:lstStyle/>
          <a:p>
            <a:r>
              <a:rPr lang="en-US" dirty="0"/>
              <a:t>1.1.2.</a:t>
            </a:r>
            <a:r>
              <a:rPr lang="vi-VN" dirty="0"/>
              <a:t>Duy trì và cập nhật: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8368"/>
            <a:ext cx="9144000" cy="6199632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(Router, Switch,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Wifi</a:t>
            </a:r>
            <a:r>
              <a:rPr lang="en-US" dirty="0"/>
              <a:t>...)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mãi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(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/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tin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"Tin </a:t>
            </a:r>
            <a:r>
              <a:rPr lang="en-US" dirty="0" err="1"/>
              <a:t>tức</a:t>
            </a:r>
            <a:r>
              <a:rPr lang="en-US" dirty="0"/>
              <a:t>"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SEO.</a:t>
            </a:r>
          </a:p>
          <a:p>
            <a:pPr lvl="0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HTML/CSS </a:t>
            </a:r>
            <a:r>
              <a:rPr lang="en-US" dirty="0" err="1"/>
              <a:t>và</a:t>
            </a:r>
            <a:r>
              <a:rPr lang="en-US" dirty="0"/>
              <a:t> Bootstrap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(Chrome, Edge, Safari...)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968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1.2. C</a:t>
            </a:r>
            <a:r>
              <a:rPr lang="vi-VN" sz="3600" b="1" dirty="0"/>
              <a:t>ơ</a:t>
            </a:r>
            <a:r>
              <a:rPr lang="en-US" sz="3600" b="1" dirty="0"/>
              <a:t> </a:t>
            </a:r>
            <a:r>
              <a:rPr lang="en-US" sz="3600" b="1" dirty="0" err="1"/>
              <a:t>sở</a:t>
            </a:r>
            <a:r>
              <a:rPr lang="en-US" sz="3600" b="1" dirty="0"/>
              <a:t> </a:t>
            </a:r>
            <a:r>
              <a:rPr lang="en-US" sz="3600" b="1" dirty="0" err="1"/>
              <a:t>lý</a:t>
            </a:r>
            <a:r>
              <a:rPr lang="en-US" sz="3600" b="1" dirty="0"/>
              <a:t> </a:t>
            </a:r>
            <a:r>
              <a:rPr lang="en-US" sz="3600" b="1" dirty="0" err="1"/>
              <a:t>thuyết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các</a:t>
            </a:r>
            <a:r>
              <a:rPr lang="en-US" sz="3600" b="1" dirty="0"/>
              <a:t> </a:t>
            </a:r>
            <a:r>
              <a:rPr lang="en-US" sz="3600" b="1" dirty="0" err="1"/>
              <a:t>thông</a:t>
            </a:r>
            <a:r>
              <a:rPr lang="en-US" sz="3600" b="1" dirty="0"/>
              <a:t> tin </a:t>
            </a:r>
            <a:r>
              <a:rPr lang="en-US" sz="3600" b="1" dirty="0" err="1"/>
              <a:t>kỹ</a:t>
            </a:r>
            <a:r>
              <a:rPr lang="en-US" sz="3600" b="1" dirty="0"/>
              <a:t> </a:t>
            </a:r>
            <a:r>
              <a:rPr lang="en-US" sz="3600" b="1" dirty="0" err="1"/>
              <a:t>thuật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9328"/>
            <a:ext cx="9144000" cy="61386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1.1.1. </a:t>
            </a:r>
            <a:r>
              <a:rPr lang="vi-VN" b="1" dirty="0"/>
              <a:t>Các kiến thức lý thuyết vận dụng cho việc hiện thực </a:t>
            </a:r>
            <a:r>
              <a:rPr lang="en-US" b="1" dirty="0"/>
              <a:t>      	</a:t>
            </a:r>
            <a:r>
              <a:rPr lang="vi-VN" b="1" dirty="0"/>
              <a:t>website:</a:t>
            </a:r>
            <a:endParaRPr lang="en-US" dirty="0"/>
          </a:p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NetStore</a:t>
            </a:r>
            <a:r>
              <a:rPr lang="en-US" dirty="0"/>
              <a:t>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web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:</a:t>
            </a:r>
            <a:endParaRPr lang="en-US" b="1" dirty="0"/>
          </a:p>
          <a:p>
            <a:pPr lvl="0"/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Front-end: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(UI)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,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tông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.</a:t>
            </a:r>
            <a:endParaRPr lang="en-US" b="1" dirty="0"/>
          </a:p>
          <a:p>
            <a:pPr lvl="0"/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Layout: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chia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Header, Footer </a:t>
            </a:r>
            <a:r>
              <a:rPr lang="en-US" dirty="0" err="1"/>
              <a:t>và</a:t>
            </a:r>
            <a:r>
              <a:rPr lang="en-US" dirty="0"/>
              <a:t> Main Body.</a:t>
            </a:r>
            <a:endParaRPr lang="en-US" b="1" dirty="0"/>
          </a:p>
          <a:p>
            <a:pPr lvl="0"/>
            <a:r>
              <a:rPr lang="en-US" dirty="0" err="1"/>
              <a:t>Trải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(</a:t>
            </a:r>
            <a:r>
              <a:rPr lang="en-US" dirty="0" err="1"/>
              <a:t>UX</a:t>
            </a:r>
            <a:r>
              <a:rPr lang="en-US" dirty="0"/>
              <a:t>):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dung,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(heading)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(SEO).</a:t>
            </a:r>
            <a:endParaRPr lang="en-US" b="1" dirty="0"/>
          </a:p>
          <a:p>
            <a:pPr lvl="0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(Responsive Design):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dàn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lưới</a:t>
            </a:r>
            <a:r>
              <a:rPr lang="en-US" dirty="0"/>
              <a:t> (grid)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.</a:t>
            </a:r>
            <a:endParaRPr lang="en-US" b="1" dirty="0"/>
          </a:p>
          <a:p>
            <a:r>
              <a:rPr lang="vi-VN" b="1" dirty="0"/>
              <a:t> 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72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50848"/>
          </a:xfrm>
        </p:spPr>
        <p:txBody>
          <a:bodyPr>
            <a:noAutofit/>
          </a:bodyPr>
          <a:lstStyle/>
          <a:p>
            <a:r>
              <a:rPr lang="en-US" sz="3200" b="1" dirty="0"/>
              <a:t>1.1.2. </a:t>
            </a:r>
            <a:r>
              <a:rPr lang="vi-VN" sz="3200" b="1" dirty="0"/>
              <a:t>Các công nghệ chính được sử dụng</a:t>
            </a:r>
            <a:r>
              <a:rPr lang="en-US" sz="3200" b="1" dirty="0"/>
              <a:t> HTML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8368"/>
            <a:ext cx="9144000" cy="6199632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vi-VN" dirty="0"/>
              <a:t>HTML là ngôn ngữ cơ bản cho cấu trúc website, bao gồm:</a:t>
            </a:r>
            <a:endParaRPr lang="en-US" sz="2400" dirty="0"/>
          </a:p>
          <a:p>
            <a:pPr lvl="0"/>
            <a:r>
              <a:rPr lang="vi-VN" dirty="0"/>
              <a:t>Thẻ cơ bản: &lt;html&gt;, &lt;head&gt;, &lt;body&gt;, &lt;div&gt;, &lt;section&gt;.</a:t>
            </a:r>
            <a:endParaRPr lang="en-US" sz="2400" dirty="0"/>
          </a:p>
          <a:p>
            <a:pPr lvl="0"/>
            <a:r>
              <a:rPr lang="vi-VN" dirty="0"/>
              <a:t>Thẻ tương tác: &lt;form&gt;, &lt;input&gt;, &lt;button&gt; để tạo form đặt hàng hoặc liên hệ.</a:t>
            </a:r>
            <a:endParaRPr lang="en-US" sz="2400" dirty="0"/>
          </a:p>
          <a:p>
            <a:pPr lvl="0"/>
            <a:r>
              <a:rPr lang="vi-VN" dirty="0"/>
              <a:t>Thẻ media: &lt;img&gt;, &lt;video&gt; để hiển thị hình ảnh và video sản phẩm.</a:t>
            </a:r>
            <a:endParaRPr lang="en-US" sz="2400" dirty="0"/>
          </a:p>
          <a:p>
            <a:r>
              <a:rPr lang="vi-VN" b="1" dirty="0"/>
              <a:t>CSS Tutorial &amp; Advanced:</a:t>
            </a:r>
            <a:endParaRPr lang="en-US" b="1" dirty="0"/>
          </a:p>
          <a:p>
            <a:r>
              <a:rPr lang="vi-VN" i="1" dirty="0"/>
              <a:t>CSS cơ bản:</a:t>
            </a:r>
            <a:endParaRPr lang="en-US" sz="2400" dirty="0"/>
          </a:p>
          <a:p>
            <a:r>
              <a:rPr lang="vi-VN" dirty="0"/>
              <a:t>Định nghĩa font chữ, màu sắc, kích thước, khoảng cách.</a:t>
            </a:r>
            <a:endParaRPr lang="en-US" dirty="0"/>
          </a:p>
          <a:p>
            <a:r>
              <a:rPr lang="vi-VN" i="1" dirty="0"/>
              <a:t>CSS nâng cao:</a:t>
            </a:r>
            <a:endParaRPr lang="en-US" sz="2400" dirty="0"/>
          </a:p>
          <a:p>
            <a:r>
              <a:rPr lang="vi-VN" dirty="0"/>
              <a:t>Responsive design: Đảm bảo website hiển thị tốt trên mọi thiết bị (PC, tablet, smartphone).</a:t>
            </a:r>
            <a:endParaRPr lang="en-US" dirty="0"/>
          </a:p>
          <a:p>
            <a:r>
              <a:rPr lang="vi-VN" dirty="0"/>
              <a:t>Animation: Tạo hiệu ứng cho website khi người dùng tương tác.</a:t>
            </a:r>
            <a:endParaRPr lang="en-US" dirty="0"/>
          </a:p>
          <a:p>
            <a:pPr lvl="0"/>
            <a:r>
              <a:rPr lang="vi-VN" b="1" dirty="0"/>
              <a:t>Bootstrap:</a:t>
            </a:r>
            <a:endParaRPr lang="en-US" b="1" dirty="0"/>
          </a:p>
          <a:p>
            <a:pPr lvl="1"/>
            <a:r>
              <a:rPr lang="vi-VN" dirty="0"/>
              <a:t>Tích hợp nhiều tính năng hiện đại hơn như utility classes, icons, và hỗ trợ tốt cho trình duyệt mới.</a:t>
            </a:r>
            <a:endParaRPr lang="en-US" sz="2000" dirty="0"/>
          </a:p>
          <a:p>
            <a:pPr lvl="1"/>
            <a:r>
              <a:rPr lang="vi-VN" dirty="0"/>
              <a:t>Không còn phụ thuộc vào jQuery, giúp tăng tốc độ tải.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65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14579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1.1.3</a:t>
            </a:r>
            <a:r>
              <a:rPr lang="vi-VN" sz="3600" b="1" dirty="0"/>
              <a:t>Lý do chọn áp dụng các công nghệ này HTML và CSS:</a:t>
            </a:r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4672"/>
            <a:ext cx="9144000" cy="605332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vi-VN" dirty="0"/>
              <a:t>Là hai công nghệ cơ bản, dễ học và phù hợp cho mọi cấp độ dự án.</a:t>
            </a:r>
            <a:endParaRPr lang="en-US" sz="2400" dirty="0"/>
          </a:p>
          <a:p>
            <a:pPr lvl="0"/>
            <a:r>
              <a:rPr lang="vi-VN" dirty="0"/>
              <a:t>Kết hợp tốt với các framework và thư viện hiện đại.</a:t>
            </a:r>
            <a:endParaRPr lang="en-US" sz="2400" dirty="0"/>
          </a:p>
          <a:p>
            <a:r>
              <a:rPr lang="vi-VN" b="1" dirty="0"/>
              <a:t>Bootstrap:</a:t>
            </a:r>
            <a:endParaRPr lang="en-US" b="1" dirty="0"/>
          </a:p>
          <a:p>
            <a:pPr lvl="0"/>
            <a:r>
              <a:rPr lang="vi-VN" dirty="0"/>
              <a:t>Tiết kiệm thời gian phát triển giao diện với các thành phần có sẵn như buttons, modals, và forms.</a:t>
            </a:r>
            <a:endParaRPr lang="en-US" sz="2400" dirty="0"/>
          </a:p>
          <a:p>
            <a:pPr lvl="0"/>
            <a:r>
              <a:rPr lang="vi-VN" dirty="0"/>
              <a:t>Hỗ trợ responsive design tốt, giúp tối ưu trải nghiệm người dùng.</a:t>
            </a:r>
            <a:endParaRPr lang="en-US" sz="2400" dirty="0"/>
          </a:p>
          <a:p>
            <a:r>
              <a:rPr lang="vi-VN" b="1" dirty="0"/>
              <a:t>Tính tương thích</a:t>
            </a:r>
            <a:r>
              <a:rPr lang="vi-VN" dirty="0"/>
              <a:t>:</a:t>
            </a:r>
            <a:endParaRPr lang="en-US" b="1" dirty="0"/>
          </a:p>
          <a:p>
            <a:pPr lvl="0"/>
            <a:r>
              <a:rPr lang="vi-VN" dirty="0"/>
              <a:t>Các công nghệ được chọn đều phổ biến, dễ bảo trì và cập nhật khi cần thiết.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9105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060192"/>
          </a:xfrm>
        </p:spPr>
        <p:txBody>
          <a:bodyPr>
            <a:normAutofit fontScale="90000"/>
          </a:bodyPr>
          <a:lstStyle/>
          <a:p>
            <a:r>
              <a:rPr lang="vi-VN" b="1" dirty="0"/>
              <a:t>CHƯƠNG 2: PHÂN TÍCH ỨNG DỤNG</a:t>
            </a:r>
            <a:br>
              <a:rPr lang="en-US" b="1" dirty="0"/>
            </a:br>
            <a:r>
              <a:rPr lang="vi-VN" b="1" dirty="0"/>
              <a:t> </a:t>
            </a:r>
            <a:br>
              <a:rPr lang="en-US" dirty="0"/>
            </a:br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4672"/>
            <a:ext cx="9144000" cy="60533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/>
              <a:t>2.1 Layout</a:t>
            </a:r>
          </a:p>
          <a:p>
            <a:pPr marL="0" lvl="0" indent="0">
              <a:buNone/>
            </a:pPr>
            <a:r>
              <a:rPr lang="en-US" sz="2400" b="1" dirty="0"/>
              <a:t>2.1.1 Trang </a:t>
            </a:r>
            <a:r>
              <a:rPr lang="en-US" sz="2400" b="1" dirty="0" err="1"/>
              <a:t>chủ</a:t>
            </a:r>
            <a:endParaRPr lang="en-US" sz="2400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AC17130-B464-443F-9AC2-2C52748E2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675782"/>
              </p:ext>
            </p:extLst>
          </p:nvPr>
        </p:nvGraphicFramePr>
        <p:xfrm>
          <a:off x="0" y="1694688"/>
          <a:ext cx="9022079" cy="29856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8012">
                  <a:extLst>
                    <a:ext uri="{9D8B030D-6E8A-4147-A177-3AD203B41FA5}">
                      <a16:colId xmlns:a16="http://schemas.microsoft.com/office/drawing/2014/main" val="982274604"/>
                    </a:ext>
                  </a:extLst>
                </a:gridCol>
                <a:gridCol w="1693375">
                  <a:extLst>
                    <a:ext uri="{9D8B030D-6E8A-4147-A177-3AD203B41FA5}">
                      <a16:colId xmlns:a16="http://schemas.microsoft.com/office/drawing/2014/main" val="2634370764"/>
                    </a:ext>
                  </a:extLst>
                </a:gridCol>
                <a:gridCol w="2054258">
                  <a:extLst>
                    <a:ext uri="{9D8B030D-6E8A-4147-A177-3AD203B41FA5}">
                      <a16:colId xmlns:a16="http://schemas.microsoft.com/office/drawing/2014/main" val="100550192"/>
                    </a:ext>
                  </a:extLst>
                </a:gridCol>
                <a:gridCol w="1707255">
                  <a:extLst>
                    <a:ext uri="{9D8B030D-6E8A-4147-A177-3AD203B41FA5}">
                      <a16:colId xmlns:a16="http://schemas.microsoft.com/office/drawing/2014/main" val="683515874"/>
                    </a:ext>
                  </a:extLst>
                </a:gridCol>
                <a:gridCol w="2179179">
                  <a:extLst>
                    <a:ext uri="{9D8B030D-6E8A-4147-A177-3AD203B41FA5}">
                      <a16:colId xmlns:a16="http://schemas.microsoft.com/office/drawing/2014/main" val="814285465"/>
                    </a:ext>
                  </a:extLst>
                </a:gridCol>
              </a:tblGrid>
              <a:tr h="59898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625728"/>
                  </a:ext>
                </a:extLst>
              </a:tr>
              <a:tr h="598986">
                <a:tc>
                  <a:txBody>
                    <a:bodyPr/>
                    <a:lstStyle/>
                    <a:p>
                      <a:r>
                        <a:rPr lang="en-US" sz="2400" dirty="0"/>
                        <a:t>Trang </a:t>
                      </a:r>
                      <a:r>
                        <a:rPr lang="en-US" sz="2400" dirty="0" err="1"/>
                        <a:t>chủ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Sản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phẩm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Khuyến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mãi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Giỏ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hàng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Thanh </a:t>
                      </a:r>
                      <a:r>
                        <a:rPr lang="en-US" sz="2400" dirty="0" err="1"/>
                        <a:t>toán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53125"/>
                  </a:ext>
                </a:extLst>
              </a:tr>
              <a:tr h="1099623"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Banner</a:t>
                      </a:r>
                    </a:p>
                    <a:p>
                      <a:pPr algn="ctr"/>
                      <a:r>
                        <a:rPr lang="en-US" sz="2400" dirty="0" err="1"/>
                        <a:t>Sản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phẩm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nổi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bật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1|Sản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phẩm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nổi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bật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2|Sản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phẩm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nổi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bật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3|Sản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phẩm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nổi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bật4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00359"/>
                  </a:ext>
                </a:extLst>
              </a:tr>
              <a:tr h="59898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Footer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511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002D3C-1380-43B2-ADCC-BE94238DD7DA}"/>
              </a:ext>
            </a:extLst>
          </p:cNvPr>
          <p:cNvSpPr txBox="1"/>
          <p:nvPr/>
        </p:nvSpPr>
        <p:spPr>
          <a:xfrm>
            <a:off x="316992" y="4888992"/>
            <a:ext cx="8827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sz="2400" dirty="0"/>
              <a:t>Header: </a:t>
            </a:r>
            <a:r>
              <a:rPr lang="en-US" sz="2400" dirty="0"/>
              <a:t>Trang </a:t>
            </a:r>
            <a:r>
              <a:rPr lang="en-US" sz="2400" dirty="0" err="1"/>
              <a:t>chủ</a:t>
            </a:r>
            <a:r>
              <a:rPr lang="en-US" sz="2400" dirty="0"/>
              <a:t>,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khuyến</a:t>
            </a:r>
            <a:r>
              <a:rPr lang="en-US" sz="2400" dirty="0"/>
              <a:t> </a:t>
            </a:r>
            <a:r>
              <a:rPr lang="en-US" sz="2400" dirty="0" err="1"/>
              <a:t>mãi</a:t>
            </a:r>
            <a:r>
              <a:rPr lang="en-US" sz="2400" dirty="0"/>
              <a:t>,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thanh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lvl="0"/>
            <a:r>
              <a:rPr lang="vi-VN" sz="2400" dirty="0"/>
              <a:t>Content: Banner quảng cáo,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nổi</a:t>
            </a:r>
            <a:r>
              <a:rPr lang="en-US" sz="2400" dirty="0"/>
              <a:t> </a:t>
            </a:r>
            <a:r>
              <a:rPr lang="en-US" sz="2400" dirty="0" err="1"/>
              <a:t>bật</a:t>
            </a:r>
            <a:endParaRPr lang="en-US" sz="2400" dirty="0"/>
          </a:p>
          <a:p>
            <a:pPr lvl="0"/>
            <a:r>
              <a:rPr lang="vi-VN" sz="2400" dirty="0"/>
              <a:t>Footer: Giới thiệu, danh mục, hỗ trợ, liên hệ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2837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04544"/>
          </a:xfrm>
        </p:spPr>
        <p:txBody>
          <a:bodyPr>
            <a:normAutofit fontScale="90000"/>
          </a:bodyPr>
          <a:lstStyle/>
          <a:p>
            <a:r>
              <a:rPr lang="en-US" dirty="0"/>
              <a:t>2.1.2 Trang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F71135C-3F78-4A8F-883D-514777C5A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73137"/>
              </p:ext>
            </p:extLst>
          </p:nvPr>
        </p:nvGraphicFramePr>
        <p:xfrm>
          <a:off x="0" y="768096"/>
          <a:ext cx="9144000" cy="4108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2903066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86898028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9962210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9925598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14650023"/>
                    </a:ext>
                  </a:extLst>
                </a:gridCol>
              </a:tblGrid>
              <a:tr h="70713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570788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Trang </a:t>
                      </a:r>
                      <a:r>
                        <a:rPr lang="en-US" sz="2400" dirty="0" err="1"/>
                        <a:t>chủ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Sản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phẩm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Khuyến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mãi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Giỏ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hàng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Thanh </a:t>
                      </a:r>
                      <a:r>
                        <a:rPr lang="en-US" sz="2400" dirty="0" err="1"/>
                        <a:t>toán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6848"/>
                  </a:ext>
                </a:extLst>
              </a:tr>
              <a:tr h="740664"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1|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2|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3|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5|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6|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7|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tiết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349069"/>
                  </a:ext>
                </a:extLst>
              </a:tr>
              <a:tr h="740664">
                <a:tc gridSpan="5"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FOOTER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9461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023825-B1E5-424B-ACDE-69EE1AF07ED5}"/>
              </a:ext>
            </a:extLst>
          </p:cNvPr>
          <p:cNvSpPr txBox="1"/>
          <p:nvPr/>
        </p:nvSpPr>
        <p:spPr>
          <a:xfrm>
            <a:off x="85344" y="5120640"/>
            <a:ext cx="86441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sz="2400" b="1" dirty="0"/>
              <a:t>Header: </a:t>
            </a:r>
            <a:r>
              <a:rPr lang="en-US" sz="2400" b="1" dirty="0"/>
              <a:t>Trang </a:t>
            </a:r>
            <a:r>
              <a:rPr lang="en-US" sz="2400" b="1" dirty="0" err="1"/>
              <a:t>chủ</a:t>
            </a:r>
            <a:r>
              <a:rPr lang="en-US" sz="2400" b="1" dirty="0"/>
              <a:t>, </a:t>
            </a:r>
            <a:r>
              <a:rPr lang="en-US" sz="2400" b="1" dirty="0" err="1"/>
              <a:t>sản</a:t>
            </a:r>
            <a:r>
              <a:rPr lang="en-US" sz="2400" b="1" dirty="0"/>
              <a:t> </a:t>
            </a:r>
            <a:r>
              <a:rPr lang="en-US" sz="2400" b="1" dirty="0" err="1"/>
              <a:t>phẩm</a:t>
            </a:r>
            <a:r>
              <a:rPr lang="en-US" sz="2400" b="1" dirty="0"/>
              <a:t>, </a:t>
            </a:r>
            <a:r>
              <a:rPr lang="en-US" sz="2400" b="1" dirty="0" err="1"/>
              <a:t>khuyến</a:t>
            </a:r>
            <a:r>
              <a:rPr lang="en-US" sz="2400" b="1" dirty="0"/>
              <a:t> </a:t>
            </a:r>
            <a:r>
              <a:rPr lang="en-US" sz="2400" b="1" dirty="0" err="1"/>
              <a:t>mãi</a:t>
            </a:r>
            <a:r>
              <a:rPr lang="en-US" sz="2400" b="1" dirty="0"/>
              <a:t>, </a:t>
            </a:r>
            <a:r>
              <a:rPr lang="en-US" sz="2400" b="1" dirty="0" err="1"/>
              <a:t>giỏ</a:t>
            </a:r>
            <a:r>
              <a:rPr lang="en-US" sz="2400" b="1" dirty="0"/>
              <a:t> </a:t>
            </a:r>
            <a:r>
              <a:rPr lang="en-US" sz="2400" b="1" dirty="0" err="1"/>
              <a:t>hàng</a:t>
            </a:r>
            <a:r>
              <a:rPr lang="en-US" sz="2400" b="1" dirty="0"/>
              <a:t>, </a:t>
            </a:r>
            <a:r>
              <a:rPr lang="en-US" sz="2400" b="1" dirty="0" err="1"/>
              <a:t>thanh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endParaRPr lang="en-US" sz="2400" b="1" dirty="0"/>
          </a:p>
          <a:p>
            <a:pPr lvl="0"/>
            <a:r>
              <a:rPr lang="vi-VN" sz="2400" b="1" dirty="0"/>
              <a:t>Content: </a:t>
            </a:r>
            <a:r>
              <a:rPr lang="en-US" sz="2400" b="1" dirty="0" err="1"/>
              <a:t>Sản</a:t>
            </a:r>
            <a:r>
              <a:rPr lang="en-US" sz="2400" b="1" dirty="0"/>
              <a:t> </a:t>
            </a:r>
            <a:r>
              <a:rPr lang="en-US" sz="2400" b="1" dirty="0" err="1"/>
              <a:t>phẩm</a:t>
            </a:r>
            <a:r>
              <a:rPr lang="en-US" sz="2400" b="1" dirty="0"/>
              <a:t>, chi </a:t>
            </a:r>
            <a:r>
              <a:rPr lang="en-US" sz="2400" b="1" dirty="0" err="1"/>
              <a:t>tiết</a:t>
            </a:r>
            <a:r>
              <a:rPr lang="en-US" sz="2400" b="1" dirty="0"/>
              <a:t> </a:t>
            </a:r>
            <a:r>
              <a:rPr lang="en-US" sz="2400" b="1" dirty="0" err="1"/>
              <a:t>sản</a:t>
            </a:r>
            <a:r>
              <a:rPr lang="en-US" sz="2400" b="1" dirty="0"/>
              <a:t> </a:t>
            </a:r>
            <a:r>
              <a:rPr lang="en-US" sz="2400" b="1" dirty="0" err="1"/>
              <a:t>phẩm</a:t>
            </a:r>
            <a:endParaRPr lang="en-US" sz="2400" b="1" dirty="0"/>
          </a:p>
          <a:p>
            <a:pPr lvl="0"/>
            <a:r>
              <a:rPr lang="vi-VN" sz="2400" b="1" dirty="0"/>
              <a:t>Footer: Giới thiệu, danh mục, hỗ trợ, liên hệ</a:t>
            </a: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100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76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2.1.3 Trang </a:t>
            </a:r>
            <a:r>
              <a:rPr lang="en-US" b="1" dirty="0" err="1"/>
              <a:t>khuyến</a:t>
            </a:r>
            <a:r>
              <a:rPr lang="en-US" b="1" dirty="0"/>
              <a:t> </a:t>
            </a:r>
            <a:r>
              <a:rPr lang="en-US" b="1" dirty="0" err="1"/>
              <a:t>mãi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F93EB27-0BE3-4A07-911B-A87B4C778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704656"/>
              </p:ext>
            </p:extLst>
          </p:nvPr>
        </p:nvGraphicFramePr>
        <p:xfrm>
          <a:off x="0" y="694944"/>
          <a:ext cx="9144000" cy="3745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7152">
                  <a:extLst>
                    <a:ext uri="{9D8B030D-6E8A-4147-A177-3AD203B41FA5}">
                      <a16:colId xmlns:a16="http://schemas.microsoft.com/office/drawing/2014/main" val="537246627"/>
                    </a:ext>
                  </a:extLst>
                </a:gridCol>
                <a:gridCol w="1670304">
                  <a:extLst>
                    <a:ext uri="{9D8B030D-6E8A-4147-A177-3AD203B41FA5}">
                      <a16:colId xmlns:a16="http://schemas.microsoft.com/office/drawing/2014/main" val="3225282689"/>
                    </a:ext>
                  </a:extLst>
                </a:gridCol>
                <a:gridCol w="2109216">
                  <a:extLst>
                    <a:ext uri="{9D8B030D-6E8A-4147-A177-3AD203B41FA5}">
                      <a16:colId xmlns:a16="http://schemas.microsoft.com/office/drawing/2014/main" val="3274110538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396048626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532283239"/>
                    </a:ext>
                  </a:extLst>
                </a:gridCol>
              </a:tblGrid>
              <a:tr h="6008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237367"/>
                  </a:ext>
                </a:extLst>
              </a:tr>
              <a:tr h="5976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Trang </a:t>
                      </a:r>
                      <a:r>
                        <a:rPr lang="en-US" sz="2400" dirty="0" err="1"/>
                        <a:t>chủ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Sản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phẩm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Khuyến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mãi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Giỏ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hàng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Thanh </a:t>
                      </a:r>
                      <a:r>
                        <a:rPr lang="en-US" sz="2800" dirty="0" err="1"/>
                        <a:t>toán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111583"/>
                  </a:ext>
                </a:extLst>
              </a:tr>
              <a:tr h="1946411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Banner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quảng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cáo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</a:p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Banner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quảng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cáo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2|Banner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quảng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cáo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algn="ctr"/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khuyến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mãi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1|Sản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khuyến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mãi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2|Sản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khuyến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mãi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3|Sản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khuyến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mãi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4|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60905"/>
                  </a:ext>
                </a:extLst>
              </a:tr>
              <a:tr h="6008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FOOTER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336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CBB425-23F7-4205-BAE8-EB67804B67E5}"/>
              </a:ext>
            </a:extLst>
          </p:cNvPr>
          <p:cNvSpPr txBox="1"/>
          <p:nvPr/>
        </p:nvSpPr>
        <p:spPr>
          <a:xfrm>
            <a:off x="134112" y="4657344"/>
            <a:ext cx="80954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sz="2400" dirty="0"/>
              <a:t>Header: </a:t>
            </a:r>
            <a:r>
              <a:rPr lang="en-US" sz="2400" dirty="0"/>
              <a:t>Trang </a:t>
            </a:r>
            <a:r>
              <a:rPr lang="en-US" sz="2400" dirty="0" err="1"/>
              <a:t>chủ</a:t>
            </a:r>
            <a:r>
              <a:rPr lang="en-US" sz="2400" dirty="0"/>
              <a:t>,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khuyến</a:t>
            </a:r>
            <a:r>
              <a:rPr lang="en-US" sz="2400" dirty="0"/>
              <a:t> </a:t>
            </a:r>
            <a:r>
              <a:rPr lang="en-US" sz="2400" dirty="0" err="1"/>
              <a:t>mãi</a:t>
            </a:r>
            <a:r>
              <a:rPr lang="en-US" sz="2400" dirty="0"/>
              <a:t>,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thanh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lvl="0"/>
            <a:r>
              <a:rPr lang="vi-VN" sz="2400" dirty="0"/>
              <a:t>Content: </a:t>
            </a:r>
            <a:r>
              <a:rPr lang="en-US" sz="2400" dirty="0"/>
              <a:t>Banner </a:t>
            </a:r>
            <a:r>
              <a:rPr lang="en-US" sz="2400" dirty="0" err="1"/>
              <a:t>quảng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,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khuyến</a:t>
            </a:r>
            <a:r>
              <a:rPr lang="en-US" sz="2400" dirty="0"/>
              <a:t> </a:t>
            </a:r>
            <a:r>
              <a:rPr lang="en-US" sz="2400" dirty="0" err="1"/>
              <a:t>mãi</a:t>
            </a:r>
            <a:endParaRPr lang="en-US" sz="2400" dirty="0"/>
          </a:p>
          <a:p>
            <a:pPr lvl="0"/>
            <a:r>
              <a:rPr lang="vi-VN" sz="2400" dirty="0"/>
              <a:t>Footer: Giới thiệu, danh mục, hỗ trợ, liên hệ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194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50848"/>
          </a:xfrm>
        </p:spPr>
        <p:txBody>
          <a:bodyPr>
            <a:normAutofit/>
          </a:bodyPr>
          <a:lstStyle/>
          <a:p>
            <a:r>
              <a:rPr lang="en-US" b="1" dirty="0"/>
              <a:t>2.1.4 Trang </a:t>
            </a:r>
            <a:r>
              <a:rPr lang="en-US" b="1" dirty="0" err="1"/>
              <a:t>giỏ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B66B9E-B9F6-42FE-9D41-2994E7434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453956"/>
              </p:ext>
            </p:extLst>
          </p:nvPr>
        </p:nvGraphicFramePr>
        <p:xfrm>
          <a:off x="0" y="724984"/>
          <a:ext cx="9144000" cy="31916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7152">
                  <a:extLst>
                    <a:ext uri="{9D8B030D-6E8A-4147-A177-3AD203B41FA5}">
                      <a16:colId xmlns:a16="http://schemas.microsoft.com/office/drawing/2014/main" val="3375874725"/>
                    </a:ext>
                  </a:extLst>
                </a:gridCol>
                <a:gridCol w="1670304">
                  <a:extLst>
                    <a:ext uri="{9D8B030D-6E8A-4147-A177-3AD203B41FA5}">
                      <a16:colId xmlns:a16="http://schemas.microsoft.com/office/drawing/2014/main" val="2505810909"/>
                    </a:ext>
                  </a:extLst>
                </a:gridCol>
                <a:gridCol w="2109216">
                  <a:extLst>
                    <a:ext uri="{9D8B030D-6E8A-4147-A177-3AD203B41FA5}">
                      <a16:colId xmlns:a16="http://schemas.microsoft.com/office/drawing/2014/main" val="3442665474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25143639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896192310"/>
                    </a:ext>
                  </a:extLst>
                </a:gridCol>
              </a:tblGrid>
              <a:tr h="6008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28189"/>
                  </a:ext>
                </a:extLst>
              </a:tr>
              <a:tr h="5976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Trang </a:t>
                      </a:r>
                      <a:r>
                        <a:rPr lang="en-US" sz="2400" dirty="0" err="1"/>
                        <a:t>chủ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Sản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phẩm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Khuyến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mãi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Giỏ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hàng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Thanh </a:t>
                      </a:r>
                      <a:r>
                        <a:rPr lang="en-US" sz="2800" dirty="0" err="1"/>
                        <a:t>toán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57041"/>
                  </a:ext>
                </a:extLst>
              </a:tr>
              <a:tr h="139238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Giỏ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hàng|Tóm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tắt</a:t>
                      </a:r>
                      <a:r>
                        <a:rPr lang="en-US" sz="2800" dirty="0"/>
                        <a:t> đ</a:t>
                      </a:r>
                      <a:r>
                        <a:rPr lang="vi-VN" sz="2800" dirty="0"/>
                        <a:t>ơ</a:t>
                      </a:r>
                      <a:r>
                        <a:rPr lang="en-US" sz="2800" dirty="0"/>
                        <a:t>n </a:t>
                      </a:r>
                      <a:r>
                        <a:rPr lang="en-US" sz="2800" dirty="0" err="1"/>
                        <a:t>hàng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28070"/>
                  </a:ext>
                </a:extLst>
              </a:tr>
              <a:tr h="6008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FOOTER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5671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DFCE15-4913-438C-86E1-06422B0ED4C6}"/>
              </a:ext>
            </a:extLst>
          </p:cNvPr>
          <p:cNvSpPr txBox="1"/>
          <p:nvPr/>
        </p:nvSpPr>
        <p:spPr>
          <a:xfrm>
            <a:off x="402336" y="4352544"/>
            <a:ext cx="74980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sz="2400" dirty="0"/>
              <a:t>Header: </a:t>
            </a:r>
            <a:r>
              <a:rPr lang="en-US" sz="2400" dirty="0"/>
              <a:t>Trang </a:t>
            </a:r>
            <a:r>
              <a:rPr lang="en-US" sz="2400" dirty="0" err="1"/>
              <a:t>chủ</a:t>
            </a:r>
            <a:r>
              <a:rPr lang="en-US" sz="2400" dirty="0"/>
              <a:t>,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khuyến</a:t>
            </a:r>
            <a:r>
              <a:rPr lang="en-US" sz="2400" dirty="0"/>
              <a:t> </a:t>
            </a:r>
            <a:r>
              <a:rPr lang="en-US" sz="2400" dirty="0" err="1"/>
              <a:t>mãi</a:t>
            </a:r>
            <a:r>
              <a:rPr lang="en-US" sz="2400" dirty="0"/>
              <a:t>,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thanh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lvl="0"/>
            <a:r>
              <a:rPr lang="vi-VN" sz="2400" dirty="0"/>
              <a:t>Content: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tóm</a:t>
            </a:r>
            <a:r>
              <a:rPr lang="en-US" sz="2400" dirty="0"/>
              <a:t> </a:t>
            </a:r>
            <a:r>
              <a:rPr lang="en-US" sz="2400" dirty="0" err="1"/>
              <a:t>tắt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pPr lvl="0"/>
            <a:r>
              <a:rPr lang="vi-VN" sz="2400" dirty="0"/>
              <a:t>Footer: Giới thiệu, danh mục, hỗ trợ, liên hệ</a:t>
            </a:r>
            <a:endParaRPr lang="en-US" sz="2400" dirty="0"/>
          </a:p>
          <a:p>
            <a:br>
              <a:rPr lang="vi-VN" dirty="0"/>
            </a:br>
            <a:r>
              <a:rPr lang="vi-VN" dirty="0"/>
              <a:t>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971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264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2.1.4 Trang </a:t>
            </a:r>
            <a:r>
              <a:rPr lang="en-US" b="1" dirty="0" err="1"/>
              <a:t>thanh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D93516-4433-4D87-9895-E8C1DEB6A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70043"/>
              </p:ext>
            </p:extLst>
          </p:nvPr>
        </p:nvGraphicFramePr>
        <p:xfrm>
          <a:off x="0" y="725424"/>
          <a:ext cx="9144000" cy="31916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7152">
                  <a:extLst>
                    <a:ext uri="{9D8B030D-6E8A-4147-A177-3AD203B41FA5}">
                      <a16:colId xmlns:a16="http://schemas.microsoft.com/office/drawing/2014/main" val="3375874725"/>
                    </a:ext>
                  </a:extLst>
                </a:gridCol>
                <a:gridCol w="1670304">
                  <a:extLst>
                    <a:ext uri="{9D8B030D-6E8A-4147-A177-3AD203B41FA5}">
                      <a16:colId xmlns:a16="http://schemas.microsoft.com/office/drawing/2014/main" val="2505810909"/>
                    </a:ext>
                  </a:extLst>
                </a:gridCol>
                <a:gridCol w="2109216">
                  <a:extLst>
                    <a:ext uri="{9D8B030D-6E8A-4147-A177-3AD203B41FA5}">
                      <a16:colId xmlns:a16="http://schemas.microsoft.com/office/drawing/2014/main" val="3442665474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25143639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896192310"/>
                    </a:ext>
                  </a:extLst>
                </a:gridCol>
              </a:tblGrid>
              <a:tr h="6008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28189"/>
                  </a:ext>
                </a:extLst>
              </a:tr>
              <a:tr h="5976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Trang </a:t>
                      </a:r>
                      <a:r>
                        <a:rPr lang="en-US" sz="2400" dirty="0" err="1"/>
                        <a:t>chủ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Sản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phẩm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Khuyến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mãi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Giỏ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hàng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Thanh </a:t>
                      </a:r>
                      <a:r>
                        <a:rPr lang="en-US" sz="2800" dirty="0" err="1"/>
                        <a:t>toán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57041"/>
                  </a:ext>
                </a:extLst>
              </a:tr>
              <a:tr h="139238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Thông</a:t>
                      </a:r>
                      <a:r>
                        <a:rPr lang="en-US" sz="2800" dirty="0"/>
                        <a:t> tin </a:t>
                      </a:r>
                      <a:r>
                        <a:rPr lang="en-US" sz="2800" dirty="0" err="1"/>
                        <a:t>giao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hàng|Đơn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hàng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của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bạn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28070"/>
                  </a:ext>
                </a:extLst>
              </a:tr>
              <a:tr h="6008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FOOTER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5671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D66E1BA-78DF-4187-850C-8E6D6F4A3294}"/>
              </a:ext>
            </a:extLst>
          </p:cNvPr>
          <p:cNvSpPr txBox="1"/>
          <p:nvPr/>
        </p:nvSpPr>
        <p:spPr>
          <a:xfrm>
            <a:off x="243840" y="4120896"/>
            <a:ext cx="8253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sz="2400" dirty="0"/>
              <a:t>Header: </a:t>
            </a:r>
            <a:r>
              <a:rPr lang="en-US" sz="2400" dirty="0"/>
              <a:t>Trang </a:t>
            </a:r>
            <a:r>
              <a:rPr lang="en-US" sz="2400" dirty="0" err="1"/>
              <a:t>chủ</a:t>
            </a:r>
            <a:r>
              <a:rPr lang="en-US" sz="2400" dirty="0"/>
              <a:t>,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khuyến</a:t>
            </a:r>
            <a:r>
              <a:rPr lang="en-US" sz="2400" dirty="0"/>
              <a:t> </a:t>
            </a:r>
            <a:r>
              <a:rPr lang="en-US" sz="2400" dirty="0" err="1"/>
              <a:t>mãi</a:t>
            </a:r>
            <a:r>
              <a:rPr lang="en-US" sz="2400" dirty="0"/>
              <a:t>,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thanh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lvl="0"/>
            <a:r>
              <a:rPr lang="vi-VN" sz="2400" dirty="0"/>
              <a:t>Content: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bạn</a:t>
            </a:r>
            <a:endParaRPr lang="en-US" sz="2400" dirty="0"/>
          </a:p>
          <a:p>
            <a:pPr lvl="0"/>
            <a:r>
              <a:rPr lang="vi-VN" sz="2400" dirty="0"/>
              <a:t>Footer: Giới thiệu, danh mục, hỗ trợ, liên hệ</a:t>
            </a:r>
            <a:endParaRPr lang="en-US" sz="2400" dirty="0"/>
          </a:p>
          <a:p>
            <a:br>
              <a:rPr lang="en-US" dirty="0"/>
            </a:b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851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414016"/>
          </a:xfrm>
        </p:spPr>
        <p:txBody>
          <a:bodyPr>
            <a:normAutofit fontScale="90000"/>
          </a:bodyPr>
          <a:lstStyle/>
          <a:p>
            <a:r>
              <a:rPr lang="vi-VN" b="1" dirty="0"/>
              <a:t>CHƯƠNG 3: XÂY DỰNG ỨNG DỤNG</a:t>
            </a:r>
            <a:br>
              <a:rPr lang="en-US" b="1" dirty="0"/>
            </a:br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6F8D8-95C1-4F14-88FC-E072BCA8D7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14272"/>
            <a:ext cx="9144000" cy="54437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6858CF-6888-406B-9366-C8DF0DD2D150}"/>
              </a:ext>
            </a:extLst>
          </p:cNvPr>
          <p:cNvSpPr txBox="1"/>
          <p:nvPr/>
        </p:nvSpPr>
        <p:spPr>
          <a:xfrm>
            <a:off x="134112" y="647962"/>
            <a:ext cx="4035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3.1 Trang </a:t>
            </a:r>
            <a:r>
              <a:rPr lang="en-US" sz="2400" b="1" dirty="0" err="1"/>
              <a:t>chủ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2825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14579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3.2 Trang </a:t>
            </a:r>
            <a:r>
              <a:rPr lang="en-US" sz="3600" b="1" dirty="0" err="1"/>
              <a:t>sản</a:t>
            </a:r>
            <a:r>
              <a:rPr lang="en-US" sz="3600" b="1" dirty="0"/>
              <a:t> </a:t>
            </a:r>
            <a:r>
              <a:rPr lang="en-US" sz="3600" b="1" dirty="0" err="1"/>
              <a:t>phẩm</a:t>
            </a:r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A7F8F-772D-4939-8A81-7EADCEF622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41248"/>
            <a:ext cx="9143999" cy="601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15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EF071B-95F1-491A-ADC1-7908EE286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398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3.3 Trang </a:t>
            </a:r>
            <a:r>
              <a:rPr lang="en-US" b="1" dirty="0" err="1"/>
              <a:t>khuyến</a:t>
            </a:r>
            <a:r>
              <a:rPr lang="en-US" b="1" dirty="0"/>
              <a:t> </a:t>
            </a:r>
            <a:r>
              <a:rPr lang="en-US" b="1" dirty="0" err="1"/>
              <a:t>mãi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2DF996-0B07-404C-97D8-3DCF6CE485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3984"/>
            <a:ext cx="9229343" cy="622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6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700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3.4 Trang tin </a:t>
            </a:r>
            <a:r>
              <a:rPr lang="en-US" b="1" dirty="0" err="1"/>
              <a:t>tức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70068-519E-42E5-8646-4B496E1E89E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94944"/>
            <a:ext cx="9144000" cy="433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36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145792"/>
          </a:xfrm>
        </p:spPr>
        <p:txBody>
          <a:bodyPr>
            <a:normAutofit/>
          </a:bodyPr>
          <a:lstStyle/>
          <a:p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108508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600" b="1" dirty="0"/>
              <a:t>3.5 Trang </a:t>
            </a:r>
            <a:r>
              <a:rPr lang="en-US" sz="3600" b="1" dirty="0" err="1"/>
              <a:t>liên</a:t>
            </a:r>
            <a:r>
              <a:rPr lang="en-US" sz="3600" b="1" dirty="0"/>
              <a:t> </a:t>
            </a:r>
            <a:r>
              <a:rPr lang="en-US" sz="3600" b="1" dirty="0" err="1"/>
              <a:t>hệ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A5159-5343-4973-A0BD-FAADF0C1C2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68096"/>
            <a:ext cx="9143999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2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14579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3.6 Trang </a:t>
            </a:r>
            <a:r>
              <a:rPr lang="en-US" sz="3600" b="1" dirty="0" err="1"/>
              <a:t>giới</a:t>
            </a:r>
            <a:r>
              <a:rPr lang="en-US" sz="3600" b="1" dirty="0"/>
              <a:t> </a:t>
            </a:r>
            <a:r>
              <a:rPr lang="en-US" sz="3600" b="1" dirty="0" err="1"/>
              <a:t>thiệu</a:t>
            </a:r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E1CA9-B019-4722-9289-153A422BA3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43712"/>
            <a:ext cx="9143999" cy="611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96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037-E19A-4412-BCE1-27F29F7C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1792"/>
            <a:ext cx="9144000" cy="1524000"/>
          </a:xfrm>
        </p:spPr>
        <p:txBody>
          <a:bodyPr>
            <a:normAutofit fontScale="90000"/>
          </a:bodyPr>
          <a:lstStyle/>
          <a:p>
            <a:r>
              <a:rPr lang="vi-VN" sz="3600" b="1" dirty="0"/>
              <a:t>CHƯƠNG 4: KẾT QUẢ ĐẠT ĐƯỢC, HẠN CHẾ VÀ PHÁT TRIỂN</a:t>
            </a:r>
            <a:br>
              <a:rPr lang="en-US" b="1" dirty="0"/>
            </a:br>
            <a:br>
              <a:rPr lang="en-US" sz="3600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4128"/>
            <a:ext cx="9144000" cy="5833872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vi-VN" b="1" dirty="0"/>
              <a:t>Kết quả đạt được</a:t>
            </a:r>
            <a:endParaRPr lang="en-US" b="1" dirty="0"/>
          </a:p>
          <a:p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Web,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website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NetStore</a:t>
            </a:r>
            <a:r>
              <a:rPr lang="en-US" dirty="0"/>
              <a:t>.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  <a:endParaRPr lang="en-US" sz="2400" dirty="0"/>
          </a:p>
          <a:p>
            <a:pPr lvl="0"/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mặt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(UI):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website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,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,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tông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.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(Header, Footer, Main Body)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,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sz="2400" dirty="0"/>
          </a:p>
          <a:p>
            <a:pPr lvl="0"/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mặt</a:t>
            </a:r>
            <a:r>
              <a:rPr lang="en-US" b="1" dirty="0"/>
              <a:t>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thạo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thuần</a:t>
            </a:r>
            <a:r>
              <a:rPr lang="en-US" dirty="0"/>
              <a:t> HTML </a:t>
            </a:r>
            <a:r>
              <a:rPr lang="en-US" dirty="0" err="1"/>
              <a:t>và</a:t>
            </a:r>
            <a:r>
              <a:rPr lang="en-US" dirty="0"/>
              <a:t> CSS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dàn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,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layout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(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lưới</a:t>
            </a:r>
            <a:r>
              <a:rPr lang="en-US" dirty="0"/>
              <a:t> grid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tin </a:t>
            </a:r>
            <a:r>
              <a:rPr lang="en-US" dirty="0" err="1"/>
              <a:t>tức</a:t>
            </a:r>
            <a:r>
              <a:rPr lang="en-US" dirty="0"/>
              <a:t>)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.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JavaScript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form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,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r>
              <a:rPr lang="en-US" dirty="0"/>
              <a:t> </a:t>
            </a:r>
            <a:r>
              <a:rPr lang="en-US" dirty="0" err="1"/>
              <a:t>ẩn</a:t>
            </a:r>
            <a:r>
              <a:rPr lang="en-US" dirty="0"/>
              <a:t>/</a:t>
            </a:r>
            <a:r>
              <a:rPr lang="en-US" dirty="0" err="1"/>
              <a:t>hiện</a:t>
            </a:r>
            <a:r>
              <a:rPr lang="en-US" dirty="0"/>
              <a:t>.</a:t>
            </a:r>
            <a:endParaRPr lang="en-US" sz="2400" dirty="0"/>
          </a:p>
          <a:p>
            <a:pPr lvl="0"/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mặt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trải</a:t>
            </a:r>
            <a:r>
              <a:rPr lang="en-US" b="1" dirty="0"/>
              <a:t> </a:t>
            </a:r>
            <a:r>
              <a:rPr lang="en-US" b="1" dirty="0" err="1"/>
              <a:t>nghiệm</a:t>
            </a:r>
            <a:r>
              <a:rPr lang="en-US" b="1" dirty="0"/>
              <a:t> (</a:t>
            </a:r>
            <a:r>
              <a:rPr lang="en-US" b="1" dirty="0" err="1"/>
              <a:t>UX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 Trang </a:t>
            </a:r>
            <a:r>
              <a:rPr lang="en-US" dirty="0" err="1"/>
              <a:t>chủ</a:t>
            </a:r>
            <a:r>
              <a:rPr lang="en-US" dirty="0"/>
              <a:t>,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,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Tin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dung,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heading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(SEO-friendly).</a:t>
            </a:r>
            <a:endParaRPr lang="en-US" sz="2400" dirty="0"/>
          </a:p>
          <a:p>
            <a:r>
              <a:rPr lang="vi-VN" b="1" dirty="0"/>
              <a:t>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792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6AE2-48DD-4045-9745-5118FC62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vi-VN" b="1" dirty="0"/>
              <a:t>Hạn chế</a:t>
            </a:r>
            <a:endParaRPr lang="en-US" b="1" dirty="0"/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, do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khuôn</a:t>
            </a:r>
            <a:r>
              <a:rPr lang="en-US" dirty="0"/>
              <a:t> </a:t>
            </a:r>
            <a:r>
              <a:rPr lang="en-US" dirty="0" err="1"/>
              <a:t>khổ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, website </a:t>
            </a:r>
            <a:r>
              <a:rPr lang="en-US" dirty="0" err="1"/>
              <a:t>NetStore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:</a:t>
            </a:r>
            <a:endParaRPr lang="en-US" sz="2400" dirty="0"/>
          </a:p>
          <a:p>
            <a:pPr lvl="0"/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tĩnh</a:t>
            </a:r>
            <a:r>
              <a:rPr lang="en-US" b="1" dirty="0"/>
              <a:t>:</a:t>
            </a:r>
            <a:r>
              <a:rPr lang="en-US" dirty="0"/>
              <a:t> Website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ở </a:t>
            </a:r>
            <a:r>
              <a:rPr lang="en-US" dirty="0" err="1"/>
              <a:t>phía</a:t>
            </a:r>
            <a:r>
              <a:rPr lang="en-US" dirty="0"/>
              <a:t> Front-end (Client-side)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(hardcode) </a:t>
            </a:r>
            <a:r>
              <a:rPr lang="en-US" dirty="0" err="1"/>
              <a:t>bằng</a:t>
            </a:r>
            <a:r>
              <a:rPr lang="en-US" dirty="0"/>
              <a:t> HTML.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(Database)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động</a:t>
            </a:r>
            <a:r>
              <a:rPr lang="en-US" dirty="0"/>
              <a:t>.</a:t>
            </a:r>
            <a:endParaRPr lang="en-US" sz="2400" dirty="0"/>
          </a:p>
          <a:p>
            <a:pPr lvl="0"/>
            <a:r>
              <a:rPr lang="en-US" b="1" dirty="0" err="1"/>
              <a:t>Chưa</a:t>
            </a:r>
            <a:r>
              <a:rPr lang="en-US" b="1" dirty="0"/>
              <a:t> </a:t>
            </a:r>
            <a:r>
              <a:rPr lang="en-US" b="1" dirty="0" err="1"/>
              <a:t>hoàn</a:t>
            </a:r>
            <a:r>
              <a:rPr lang="en-US" b="1" dirty="0"/>
              <a:t> </a:t>
            </a:r>
            <a:r>
              <a:rPr lang="en-US" b="1" dirty="0" err="1"/>
              <a:t>thiện</a:t>
            </a:r>
            <a:r>
              <a:rPr lang="en-US" b="1" dirty="0"/>
              <a:t> </a:t>
            </a:r>
            <a:r>
              <a:rPr lang="en-US" b="1" dirty="0" err="1"/>
              <a:t>quy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thương</a:t>
            </a:r>
            <a:r>
              <a:rPr lang="en-US" b="1" dirty="0"/>
              <a:t> </a:t>
            </a:r>
            <a:r>
              <a:rPr lang="en-US" b="1" dirty="0" err="1"/>
              <a:t>mại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hay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,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Back-end.</a:t>
            </a:r>
            <a:endParaRPr lang="en-US" sz="2400" dirty="0"/>
          </a:p>
          <a:p>
            <a:pPr lvl="0"/>
            <a:r>
              <a:rPr lang="en-US" b="1" dirty="0" err="1"/>
              <a:t>Khả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đáp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(Responsive):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(PC/Laptop).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di </a:t>
            </a:r>
            <a:r>
              <a:rPr lang="en-US" dirty="0" err="1"/>
              <a:t>động</a:t>
            </a:r>
            <a:r>
              <a:rPr lang="en-US" dirty="0"/>
              <a:t> (Mobile/Tablet)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100%.</a:t>
            </a:r>
            <a:endParaRPr lang="en-US" sz="2400" dirty="0"/>
          </a:p>
          <a:p>
            <a:r>
              <a:rPr lang="vi-VN" b="1" dirty="0"/>
              <a:t> </a:t>
            </a:r>
            <a:endParaRPr lang="en-US" b="1" dirty="0"/>
          </a:p>
          <a:p>
            <a:pPr lv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3535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vi-VN" b="1" dirty="0"/>
              <a:t>Hướng phát triển</a:t>
            </a:r>
            <a:endParaRPr lang="en-US" b="1" dirty="0"/>
          </a:p>
          <a:p>
            <a:r>
              <a:rPr lang="vi-VN" sz="2400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nêu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website </a:t>
            </a:r>
            <a:r>
              <a:rPr lang="en-US" dirty="0" err="1"/>
              <a:t>NetStore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lai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  <a:endParaRPr lang="en-US" sz="2400" dirty="0"/>
          </a:p>
          <a:p>
            <a:pPr lvl="0"/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Back-end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sở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(</a:t>
            </a:r>
            <a:r>
              <a:rPr lang="en-US" dirty="0" err="1"/>
              <a:t>như</a:t>
            </a:r>
            <a:r>
              <a:rPr lang="en-US" dirty="0"/>
              <a:t> PHP, Node.js)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(MySQL, MongoDB)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(Admin Panel). Qua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,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sz="2400" dirty="0"/>
          </a:p>
          <a:p>
            <a:pPr lvl="0"/>
            <a:r>
              <a:rPr lang="en-US" b="1" dirty="0" err="1"/>
              <a:t>Hoàn</a:t>
            </a:r>
            <a:r>
              <a:rPr lang="en-US" b="1" dirty="0"/>
              <a:t> </a:t>
            </a:r>
            <a:r>
              <a:rPr lang="en-US" b="1" dirty="0" err="1"/>
              <a:t>thiện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thương</a:t>
            </a:r>
            <a:r>
              <a:rPr lang="en-US" b="1" dirty="0"/>
              <a:t> </a:t>
            </a:r>
            <a:r>
              <a:rPr lang="en-US" b="1" dirty="0" err="1"/>
              <a:t>mại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(</a:t>
            </a:r>
            <a:r>
              <a:rPr lang="en-US" dirty="0" err="1"/>
              <a:t>VNPay</a:t>
            </a:r>
            <a:r>
              <a:rPr lang="en-US" dirty="0"/>
              <a:t>, </a:t>
            </a:r>
            <a:r>
              <a:rPr lang="en-US" dirty="0" err="1"/>
              <a:t>MoMo</a:t>
            </a:r>
            <a:r>
              <a:rPr lang="en-US" dirty="0"/>
              <a:t>,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trải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 </a:t>
            </a:r>
            <a:r>
              <a:rPr lang="en-US" dirty="0" err="1"/>
              <a:t>trọn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sz="2400" dirty="0"/>
          </a:p>
          <a:p>
            <a:pPr lvl="0"/>
            <a:r>
              <a:rPr lang="en-US" b="1" dirty="0" err="1"/>
              <a:t>Tối</a:t>
            </a:r>
            <a:r>
              <a:rPr lang="en-US" b="1" dirty="0"/>
              <a:t> </a:t>
            </a:r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Responsive: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Media Queries </a:t>
            </a:r>
            <a:r>
              <a:rPr lang="en-US" dirty="0" err="1"/>
              <a:t>trong</a:t>
            </a:r>
            <a:r>
              <a:rPr lang="en-US" dirty="0"/>
              <a:t> CSS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, </a:t>
            </a:r>
            <a:r>
              <a:rPr lang="en-US" dirty="0" err="1"/>
              <a:t>mượt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),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xu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web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di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nay.</a:t>
            </a:r>
            <a:endParaRPr lang="en-US" sz="2400" dirty="0"/>
          </a:p>
          <a:p>
            <a:pPr lvl="0"/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</a:t>
            </a:r>
            <a:r>
              <a:rPr lang="en-US" b="1" dirty="0" err="1"/>
              <a:t>chiến</a:t>
            </a:r>
            <a:r>
              <a:rPr lang="en-US" b="1" dirty="0"/>
              <a:t> </a:t>
            </a:r>
            <a:r>
              <a:rPr lang="en-US" b="1" dirty="0" err="1"/>
              <a:t>lược</a:t>
            </a:r>
            <a:r>
              <a:rPr lang="en-US" b="1" dirty="0"/>
              <a:t> </a:t>
            </a:r>
            <a:r>
              <a:rPr lang="en-US" b="1" dirty="0" err="1"/>
              <a:t>nội</a:t>
            </a:r>
            <a:r>
              <a:rPr lang="en-US" b="1" dirty="0"/>
              <a:t> dung </a:t>
            </a:r>
            <a:r>
              <a:rPr lang="en-US" b="1" dirty="0" err="1"/>
              <a:t>và</a:t>
            </a:r>
            <a:r>
              <a:rPr lang="en-US" b="1" dirty="0"/>
              <a:t> SEO </a:t>
            </a:r>
            <a:r>
              <a:rPr lang="en-US" b="1" dirty="0" err="1"/>
              <a:t>chuyên</a:t>
            </a:r>
            <a:r>
              <a:rPr lang="en-US" b="1" dirty="0"/>
              <a:t> </a:t>
            </a:r>
            <a:r>
              <a:rPr lang="en-US" b="1" dirty="0" err="1"/>
              <a:t>sâu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tin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Topic Cluster (</a:t>
            </a:r>
            <a:r>
              <a:rPr lang="en-US" dirty="0" err="1"/>
              <a:t>Cụm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Pillar Page (Trang </a:t>
            </a:r>
            <a:r>
              <a:rPr lang="en-US" dirty="0" err="1"/>
              <a:t>trụ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),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(Internal link)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chẽ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website </a:t>
            </a:r>
            <a:r>
              <a:rPr lang="en-US" dirty="0" err="1"/>
              <a:t>NetStore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,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.</a:t>
            </a:r>
            <a:endParaRPr lang="en-US" sz="2400" dirty="0"/>
          </a:p>
          <a:p>
            <a:pPr marL="0" indent="0">
              <a:buNone/>
            </a:pPr>
            <a:endParaRPr sz="2400" dirty="0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b="1" dirty="0"/>
              <a:t>CHƯƠNG 5: TÀI LIỆU KHAM KHẢO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1664"/>
            <a:ext cx="9241536" cy="573633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500" b="1" u="sng" dirty="0"/>
              <a:t>5.1</a:t>
            </a:r>
            <a:r>
              <a:rPr lang="en-US" b="1" u="sng" dirty="0"/>
              <a:t> </a:t>
            </a:r>
            <a:r>
              <a:rPr lang="vi-VN" b="1" u="sng" dirty="0"/>
              <a:t>Giáo trình</a:t>
            </a:r>
            <a:endParaRPr lang="en-US" b="1" dirty="0"/>
          </a:p>
          <a:p>
            <a:r>
              <a:rPr lang="vi-VN" dirty="0"/>
              <a:t>Các sile bài giảng</a:t>
            </a:r>
            <a:endParaRPr lang="en-US" dirty="0"/>
          </a:p>
          <a:p>
            <a:pPr marL="457200" lvl="1" indent="0">
              <a:buNone/>
            </a:pPr>
            <a:r>
              <a:rPr lang="en-US" sz="3500" b="1" dirty="0"/>
              <a:t>5.2</a:t>
            </a:r>
            <a:r>
              <a:rPr lang="vi-VN" b="1" dirty="0"/>
              <a:t>Website</a:t>
            </a:r>
            <a:endParaRPr lang="en-US" b="1" dirty="0"/>
          </a:p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: 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err="1">
                <a:hlinkClick r:id="rId2"/>
              </a:rPr>
              <a:t>anson.com.vn</a:t>
            </a:r>
            <a:r>
              <a:rPr lang="en-US" u="sng" dirty="0">
                <a:hlinkClick r:id="rId2"/>
              </a:rPr>
              <a:t>/about/</a:t>
            </a:r>
            <a:endParaRPr lang="en-US" sz="2400" dirty="0"/>
          </a:p>
          <a:p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: </a:t>
            </a:r>
            <a:r>
              <a:rPr lang="en-US" u="sng" dirty="0">
                <a:hlinkClick r:id="rId3"/>
              </a:rPr>
              <a:t>https://</a:t>
            </a:r>
            <a:r>
              <a:rPr lang="en-US" u="sng" dirty="0" err="1">
                <a:hlinkClick r:id="rId3"/>
              </a:rPr>
              <a:t>anson.com.vn</a:t>
            </a:r>
            <a:r>
              <a:rPr lang="en-US" u="sng" dirty="0">
                <a:hlinkClick r:id="rId3"/>
              </a:rPr>
              <a:t>/lien-he/</a:t>
            </a:r>
            <a:endParaRPr lang="en-US" sz="2400" dirty="0"/>
          </a:p>
          <a:p>
            <a:r>
              <a:rPr lang="en-US" dirty="0"/>
              <a:t>Tin </a:t>
            </a:r>
            <a:r>
              <a:rPr lang="en-US" dirty="0" err="1"/>
              <a:t>tức</a:t>
            </a:r>
            <a:r>
              <a:rPr lang="en-US" dirty="0"/>
              <a:t>: </a:t>
            </a:r>
            <a:r>
              <a:rPr lang="en-US" u="sng" dirty="0">
                <a:hlinkClick r:id="rId4"/>
              </a:rPr>
              <a:t>https://</a:t>
            </a:r>
            <a:r>
              <a:rPr lang="en-US" u="sng" dirty="0" err="1">
                <a:hlinkClick r:id="rId4"/>
              </a:rPr>
              <a:t>vn.store.tp-link.com</a:t>
            </a:r>
            <a:r>
              <a:rPr lang="en-US" u="sng" dirty="0">
                <a:hlinkClick r:id="rId4"/>
              </a:rPr>
              <a:t>/blogs/all</a:t>
            </a:r>
            <a:endParaRPr lang="en-US" sz="2400" dirty="0"/>
          </a:p>
          <a:p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: </a:t>
            </a:r>
            <a:r>
              <a:rPr lang="en-US" u="sng" dirty="0">
                <a:hlinkClick r:id="rId5"/>
              </a:rPr>
              <a:t>https://</a:t>
            </a:r>
            <a:r>
              <a:rPr lang="en-US" u="sng" dirty="0" err="1">
                <a:hlinkClick r:id="rId5"/>
              </a:rPr>
              <a:t>www.thegioididong.com</a:t>
            </a:r>
            <a:r>
              <a:rPr lang="en-US" u="sng" dirty="0">
                <a:hlinkClick r:id="rId5"/>
              </a:rPr>
              <a:t>/</a:t>
            </a:r>
            <a:endParaRPr lang="en-US" sz="2400" dirty="0"/>
          </a:p>
          <a:p>
            <a:r>
              <a:rPr lang="en-US" u="sng" dirty="0">
                <a:hlinkClick r:id="rId6"/>
              </a:rPr>
              <a:t>https://</a:t>
            </a:r>
            <a:r>
              <a:rPr lang="en-US" u="sng" dirty="0" err="1">
                <a:hlinkClick r:id="rId6"/>
              </a:rPr>
              <a:t>www.w3school.com</a:t>
            </a:r>
            <a:r>
              <a:rPr lang="en-US" u="sng" dirty="0">
                <a:hlinkClick r:id="rId6"/>
              </a:rPr>
              <a:t>/</a:t>
            </a:r>
            <a:endParaRPr lang="en-US" sz="2400" dirty="0"/>
          </a:p>
          <a:p>
            <a:r>
              <a:rPr lang="en-US" u="sng" dirty="0">
                <a:hlinkClick r:id="rId7"/>
              </a:rPr>
              <a:t>http://</a:t>
            </a:r>
            <a:r>
              <a:rPr lang="en-US" u="sng" dirty="0" err="1">
                <a:hlinkClick r:id="rId7"/>
              </a:rPr>
              <a:t>gsgd.co.uk</a:t>
            </a:r>
            <a:r>
              <a:rPr lang="en-US" u="sng" dirty="0">
                <a:hlinkClick r:id="rId7"/>
              </a:rPr>
              <a:t>/sandbox/</a:t>
            </a:r>
            <a:r>
              <a:rPr lang="en-US" u="sng" dirty="0" err="1">
                <a:hlinkClick r:id="rId7"/>
              </a:rPr>
              <a:t>jquery</a:t>
            </a:r>
            <a:r>
              <a:rPr lang="en-US" u="sng" dirty="0">
                <a:hlinkClick r:id="rId7"/>
              </a:rPr>
              <a:t>/easing</a:t>
            </a:r>
            <a:endParaRPr lang="en-US" sz="2400" dirty="0"/>
          </a:p>
          <a:p>
            <a:pPr marL="0" indent="0">
              <a:buNone/>
            </a:pPr>
            <a:endParaRPr sz="2400" dirty="0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2055</Words>
  <Application>Microsoft Office PowerPoint</Application>
  <PresentationFormat>On-screen Show (4:3)</PresentationFormat>
  <Paragraphs>189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Website bán thiết bị mạng NetStore</vt:lpstr>
      <vt:lpstr>Giới thiệu đề tài</vt:lpstr>
      <vt:lpstr>PowerPoint Presentation</vt:lpstr>
      <vt:lpstr>CHƯƠNG 1: GIỚI THIỆU ĐỀ TÀI </vt:lpstr>
      <vt:lpstr>1.1.2.Duy trì và cập nhật: </vt:lpstr>
      <vt:lpstr>1.2. Cơ sở lý thuyết và các thông tin kỹ thuật</vt:lpstr>
      <vt:lpstr>1.1.2. Các công nghệ chính được sử dụng HTML  </vt:lpstr>
      <vt:lpstr>1.1.3Lý do chọn áp dụng các công nghệ này HTML và CSS:  </vt:lpstr>
      <vt:lpstr>CHƯƠNG 2: PHÂN TÍCH ỨNG DỤNG     </vt:lpstr>
      <vt:lpstr>2.1.2 Trang sản phẩm </vt:lpstr>
      <vt:lpstr>2.1.3 Trang khuyến mãi </vt:lpstr>
      <vt:lpstr>2.1.4 Trang giỏ hàng </vt:lpstr>
      <vt:lpstr>2.1.4 Trang thanh toán </vt:lpstr>
      <vt:lpstr>CHƯƠNG 3: XÂY DỰNG ỨNG DỤNG   </vt:lpstr>
      <vt:lpstr>3.2 Trang sản phẩm  </vt:lpstr>
      <vt:lpstr>3.3 Trang khuyến mãi</vt:lpstr>
      <vt:lpstr>3.4 Trang tin tức </vt:lpstr>
      <vt:lpstr>  </vt:lpstr>
      <vt:lpstr>3.6 Trang giới thiệu  </vt:lpstr>
      <vt:lpstr>CHƯƠNG 4: KẾT QUẢ ĐẠT ĐƯỢC, HẠN CHẾ VÀ PHÁT TRIỂN   </vt:lpstr>
      <vt:lpstr>PowerPoint Presentation</vt:lpstr>
      <vt:lpstr>PowerPoint Presentation</vt:lpstr>
      <vt:lpstr>CHƯƠNG 5: TÀI LIỆU KHAM KHẢO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bán thiết bị mạng NetStore</dc:title>
  <dc:subject/>
  <dc:creator/>
  <cp:keywords/>
  <dc:description>generated using python-pptx</dc:description>
  <cp:lastModifiedBy>Duy Sương</cp:lastModifiedBy>
  <cp:revision>8</cp:revision>
  <dcterms:created xsi:type="dcterms:W3CDTF">2013-01-27T09:14:16Z</dcterms:created>
  <dcterms:modified xsi:type="dcterms:W3CDTF">2026-04-07T16:30:43Z</dcterms:modified>
  <cp:category/>
</cp:coreProperties>
</file>